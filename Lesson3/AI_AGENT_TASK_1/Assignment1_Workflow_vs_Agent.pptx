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hyperlink" Target="https://github.com/SivaKavindraTamilselvan/CapstoneProject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371600"/>
            <a:ext cx="4572000" cy="4572000"/>
          </a:xfrm>
          <a:prstGeom prst="ellipse">
            <a:avLst/>
          </a:prstGeom>
          <a:solidFill>
            <a:srgbClr val="065A82">
              <a:alpha val="4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789920" y="4389120"/>
            <a:ext cx="2926080" cy="2926080"/>
          </a:xfrm>
          <a:prstGeom prst="ellipse">
            <a:avLst/>
          </a:prstGeom>
          <a:solidFill>
            <a:srgbClr val="1C7293">
              <a:alpha val="4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737360"/>
            <a:ext cx="86868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Identify Workflow &amp; Agent</a:t>
            </a:r>
            <a:endParaRPr lang="en-US" sz="4000" dirty="0"/>
          </a:p>
          <a:p>
            <a:pPr indent="0" marL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Integration in Your Practice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731520" y="3520440"/>
            <a:ext cx="9144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800" i="1" dirty="0">
                <a:solidFill>
                  <a:srgbClr val="E8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Study: AI Product-Listing Validation Microservice</a:t>
            </a:r>
            <a:endParaRPr lang="en-US" sz="18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800" i="1" dirty="0">
                <a:solidFill>
                  <a:srgbClr val="E8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CapstoneProject_Ecommerce — FastAPI + Claude API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434340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and running locally: /validate-product (workflow) vs /validate-product-agent (agent)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585216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Siva Kavindra Tamilselvan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Process We're Redesigning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6675120" cy="4846320"/>
          </a:xfrm>
          <a:prstGeom prst="roundRect">
            <a:avLst>
              <a:gd name="adj" fmla="val 2264"/>
            </a:avLst>
          </a:prstGeom>
          <a:solidFill>
            <a:srgbClr val="E8F1F5"/>
          </a:solidFill>
          <a:ln/>
        </p:spPr>
      </p:sp>
      <p:sp>
        <p:nvSpPr>
          <p:cNvPr id="4" name="Text 2"/>
          <p:cNvSpPr/>
          <p:nvPr/>
        </p:nvSpPr>
        <p:spPr>
          <a:xfrm>
            <a:off x="777240" y="1508760"/>
            <a:ext cx="6035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Product-Listing Validation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777240" y="2057400"/>
            <a:ext cx="603504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product a vendor submits to the capstone e-commerce platform passes through a Python FastAPI microservice that calls Claude to check whether the images actually match the declared name, description, category, and price.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implemented today as a single main.py exposing both a fixed-workflow endpoint and a dynamic-agent endpoint on the same request data, which makes it a clean, real testbed for this comparison.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452360" y="1325880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7" name="Text 5"/>
          <p:cNvSpPr/>
          <p:nvPr/>
        </p:nvSpPr>
        <p:spPr>
          <a:xfrm>
            <a:off x="7452360" y="1325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092440" y="128016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092440" y="1572768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Submits product data + image URLs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7452360" y="251460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1" name="Text 9"/>
          <p:cNvSpPr/>
          <p:nvPr/>
        </p:nvSpPr>
        <p:spPr>
          <a:xfrm>
            <a:off x="7452360" y="25146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092440" y="246888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Service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8092440" y="2761488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main.py — routes to workflow or agent endpoint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7452360" y="3703320"/>
            <a:ext cx="457200" cy="457200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15" name="Text 13"/>
          <p:cNvSpPr/>
          <p:nvPr/>
        </p:nvSpPr>
        <p:spPr>
          <a:xfrm>
            <a:off x="7452360" y="37033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092440" y="365760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API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092440" y="3950208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 + reasoning via /v1/messages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7452360" y="4892040"/>
            <a:ext cx="457200" cy="457200"/>
          </a:xfrm>
          <a:prstGeom prst="ellipse">
            <a:avLst/>
          </a:prstGeom>
          <a:solidFill>
            <a:srgbClr val="21295C"/>
          </a:solidFill>
          <a:ln/>
        </p:spPr>
      </p:sp>
      <p:sp>
        <p:nvSpPr>
          <p:cNvPr id="19" name="Text 17"/>
          <p:cNvSpPr/>
          <p:nvPr/>
        </p:nvSpPr>
        <p:spPr>
          <a:xfrm>
            <a:off x="7452360" y="48920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8092440" y="484632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.NET Backend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8092440" y="5138928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endpoints: duplicate check, price benchmark, vendor trust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Assignment 1  |  Workflow vs Agent — Product Validation Service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Design 1 — Fixed Workflow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/validate-product — same steps, same prompt, every single call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457200" y="2286000"/>
            <a:ext cx="1691640" cy="1463040"/>
          </a:xfrm>
          <a:prstGeom prst="roundRect">
            <a:avLst>
              <a:gd name="adj" fmla="val 6250"/>
            </a:avLst>
          </a:prstGeom>
          <a:solidFill>
            <a:srgbClr val="065A82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2395728"/>
            <a:ext cx="1691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30352" y="2670048"/>
            <a:ext cx="1545336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Receive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request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(Pydantic model)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130552" y="2907792"/>
            <a:ext cx="292608" cy="219456"/>
          </a:xfrm>
          <a:prstGeom prst="rightArrow">
            <a:avLst/>
          </a:prstGeom>
          <a:solidFill>
            <a:srgbClr val="21295C"/>
          </a:solidFill>
          <a:ln/>
        </p:spPr>
      </p:sp>
      <p:sp>
        <p:nvSpPr>
          <p:cNvPr id="8" name="Shape 6"/>
          <p:cNvSpPr/>
          <p:nvPr/>
        </p:nvSpPr>
        <p:spPr>
          <a:xfrm>
            <a:off x="2404872" y="2286000"/>
            <a:ext cx="1691640" cy="1463040"/>
          </a:xfrm>
          <a:prstGeom prst="roundRect">
            <a:avLst>
              <a:gd name="adj" fmla="val 6250"/>
            </a:avLst>
          </a:prstGeom>
          <a:solidFill>
            <a:srgbClr val="1C7293"/>
          </a:solidFill>
          <a:ln/>
        </p:spPr>
      </p:sp>
      <p:sp>
        <p:nvSpPr>
          <p:cNvPr id="9" name="Text 7"/>
          <p:cNvSpPr/>
          <p:nvPr/>
        </p:nvSpPr>
        <p:spPr>
          <a:xfrm>
            <a:off x="2404872" y="2395728"/>
            <a:ext cx="1691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478024" y="2670048"/>
            <a:ext cx="1545336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build_workflow_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prompt()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fixed template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078224" y="2907792"/>
            <a:ext cx="292608" cy="219456"/>
          </a:xfrm>
          <a:prstGeom prst="rightArrow">
            <a:avLst/>
          </a:prstGeom>
          <a:solidFill>
            <a:srgbClr val="21295C"/>
          </a:solidFill>
          <a:ln/>
        </p:spPr>
      </p:sp>
      <p:sp>
        <p:nvSpPr>
          <p:cNvPr id="12" name="Shape 10"/>
          <p:cNvSpPr/>
          <p:nvPr/>
        </p:nvSpPr>
        <p:spPr>
          <a:xfrm>
            <a:off x="4352544" y="2286000"/>
            <a:ext cx="1691640" cy="1463040"/>
          </a:xfrm>
          <a:prstGeom prst="roundRect">
            <a:avLst>
              <a:gd name="adj" fmla="val 6250"/>
            </a:avLst>
          </a:prstGeom>
          <a:solidFill>
            <a:srgbClr val="065A82"/>
          </a:solidFill>
          <a:ln/>
        </p:spPr>
      </p:sp>
      <p:sp>
        <p:nvSpPr>
          <p:cNvPr id="13" name="Text 11"/>
          <p:cNvSpPr/>
          <p:nvPr/>
        </p:nvSpPr>
        <p:spPr>
          <a:xfrm>
            <a:off x="4352544" y="2395728"/>
            <a:ext cx="1691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425696" y="2670048"/>
            <a:ext cx="1545336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Encode images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 base64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blocks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025896" y="2907792"/>
            <a:ext cx="292608" cy="219456"/>
          </a:xfrm>
          <a:prstGeom prst="rightArrow">
            <a:avLst/>
          </a:prstGeom>
          <a:solidFill>
            <a:srgbClr val="21295C"/>
          </a:solidFill>
          <a:ln/>
        </p:spPr>
      </p:sp>
      <p:sp>
        <p:nvSpPr>
          <p:cNvPr id="16" name="Shape 14"/>
          <p:cNvSpPr/>
          <p:nvPr/>
        </p:nvSpPr>
        <p:spPr>
          <a:xfrm>
            <a:off x="6300216" y="2286000"/>
            <a:ext cx="1691640" cy="1463040"/>
          </a:xfrm>
          <a:prstGeom prst="roundRect">
            <a:avLst>
              <a:gd name="adj" fmla="val 6250"/>
            </a:avLst>
          </a:prstGeom>
          <a:solidFill>
            <a:srgbClr val="1C7293"/>
          </a:solidFill>
          <a:ln/>
        </p:spPr>
      </p:sp>
      <p:sp>
        <p:nvSpPr>
          <p:cNvPr id="17" name="Text 15"/>
          <p:cNvSpPr/>
          <p:nvPr/>
        </p:nvSpPr>
        <p:spPr>
          <a:xfrm>
            <a:off x="6300216" y="2395728"/>
            <a:ext cx="1691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373368" y="2670048"/>
            <a:ext cx="1545336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call_claude()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one POST to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/v1/messages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973568" y="2907792"/>
            <a:ext cx="292608" cy="219456"/>
          </a:xfrm>
          <a:prstGeom prst="rightArrow">
            <a:avLst/>
          </a:prstGeom>
          <a:solidFill>
            <a:srgbClr val="21295C"/>
          </a:solidFill>
          <a:ln/>
        </p:spPr>
      </p:sp>
      <p:sp>
        <p:nvSpPr>
          <p:cNvPr id="20" name="Shape 18"/>
          <p:cNvSpPr/>
          <p:nvPr/>
        </p:nvSpPr>
        <p:spPr>
          <a:xfrm>
            <a:off x="8247888" y="2286000"/>
            <a:ext cx="1691640" cy="1463040"/>
          </a:xfrm>
          <a:prstGeom prst="roundRect">
            <a:avLst>
              <a:gd name="adj" fmla="val 6250"/>
            </a:avLst>
          </a:prstGeom>
          <a:solidFill>
            <a:srgbClr val="065A82"/>
          </a:solidFill>
          <a:ln/>
        </p:spPr>
      </p:sp>
      <p:sp>
        <p:nvSpPr>
          <p:cNvPr id="21" name="Text 19"/>
          <p:cNvSpPr/>
          <p:nvPr/>
        </p:nvSpPr>
        <p:spPr>
          <a:xfrm>
            <a:off x="8247888" y="2395728"/>
            <a:ext cx="1691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5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8321040" y="2670048"/>
            <a:ext cx="1545336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parse_json_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response()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strip + json.loads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9921240" y="2907792"/>
            <a:ext cx="292608" cy="219456"/>
          </a:xfrm>
          <a:prstGeom prst="rightArrow">
            <a:avLst/>
          </a:prstGeom>
          <a:solidFill>
            <a:srgbClr val="21295C"/>
          </a:solidFill>
          <a:ln/>
        </p:spPr>
      </p:sp>
      <p:sp>
        <p:nvSpPr>
          <p:cNvPr id="24" name="Shape 22"/>
          <p:cNvSpPr/>
          <p:nvPr/>
        </p:nvSpPr>
        <p:spPr>
          <a:xfrm>
            <a:off x="10195560" y="2286000"/>
            <a:ext cx="1691640" cy="1463040"/>
          </a:xfrm>
          <a:prstGeom prst="roundRect">
            <a:avLst>
              <a:gd name="adj" fmla="val 6250"/>
            </a:avLst>
          </a:prstGeom>
          <a:solidFill>
            <a:srgbClr val="F2A541"/>
          </a:solidFill>
          <a:ln/>
        </p:spPr>
      </p:sp>
      <p:sp>
        <p:nvSpPr>
          <p:cNvPr id="25" name="Text 23"/>
          <p:cNvSpPr/>
          <p:nvPr/>
        </p:nvSpPr>
        <p:spPr>
          <a:xfrm>
            <a:off x="10195560" y="2395728"/>
            <a:ext cx="1691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6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0268712" y="2670048"/>
            <a:ext cx="1545336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isValid /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confidence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57200" y="4114800"/>
            <a:ext cx="11247120" cy="2103120"/>
          </a:xfrm>
          <a:prstGeom prst="roundRect">
            <a:avLst>
              <a:gd name="adj" fmla="val 3478"/>
            </a:avLst>
          </a:prstGeom>
          <a:solidFill>
            <a:srgbClr val="10233A"/>
          </a:solidFill>
          <a:ln/>
        </p:spPr>
      </p:sp>
      <p:sp>
        <p:nvSpPr>
          <p:cNvPr id="28" name="Text 26"/>
          <p:cNvSpPr/>
          <p:nvPr/>
        </p:nvSpPr>
        <p:spPr>
          <a:xfrm>
            <a:off x="640080" y="4251960"/>
            <a:ext cx="1088136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F2C5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@app.post("/validate-product")</a:t>
            </a:r>
            <a:endParaRPr lang="en-US" sz="11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82C4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validate_product(p: ProductValidationRequest):</a:t>
            </a:r>
            <a:endParaRPr lang="en-US" sz="11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content_blocks = [{"type": "text", "text": build_workflow_prompt(p)}]</a:t>
            </a:r>
            <a:endParaRPr lang="en-US" sz="11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url in p.imageUrls:</a:t>
            </a:r>
            <a:endParaRPr lang="en-US" sz="11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content_blocks.append(image_url_to_base64_block(url))</a:t>
            </a:r>
            <a:endParaRPr lang="en-US" sz="11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8FD3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content = call_claude(content_blocks)   # exactly ONE model call, every time</a:t>
            </a:r>
            <a:endParaRPr lang="en-US" sz="11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parse_json_response(content)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Assignment 1  |  Workflow vs Agent — Product Validation Service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the Workflow Behaves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11247120" cy="868680"/>
          </a:xfrm>
          <a:prstGeom prst="roundRect">
            <a:avLst>
              <a:gd name="adj" fmla="val 8421"/>
            </a:avLst>
          </a:prstGeom>
          <a:solidFill>
            <a:srgbClr val="E8F1F5"/>
          </a:solidFill>
          <a:ln w="12700">
            <a:solidFill>
              <a:srgbClr val="D9E6E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371600"/>
            <a:ext cx="23774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200400" y="1371600"/>
            <a:ext cx="8229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hard-coded in Python — no branching based on listing content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457200" y="2331720"/>
            <a:ext cx="1124712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D9E6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2331720"/>
            <a:ext cx="23774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use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200400" y="2331720"/>
            <a:ext cx="8229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None. Only ever calls Claude's Messages API once, with images attached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457200" y="3291840"/>
            <a:ext cx="11247120" cy="868680"/>
          </a:xfrm>
          <a:prstGeom prst="roundRect">
            <a:avLst>
              <a:gd name="adj" fmla="val 8421"/>
            </a:avLst>
          </a:prstGeom>
          <a:solidFill>
            <a:srgbClr val="E8F1F5"/>
          </a:solidFill>
          <a:ln w="12700">
            <a:solidFill>
              <a:srgbClr val="D9E6E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3291840"/>
            <a:ext cx="23774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Claude's role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200400" y="3291840"/>
            <a:ext cx="8229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Pure vision + text classifier — one prompt, one JSON answer, done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457200" y="4251960"/>
            <a:ext cx="1124712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D9E6E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" y="4251960"/>
            <a:ext cx="23774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Predictability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200400" y="4251960"/>
            <a:ext cx="8229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reproducible — identical request always follows the identical path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457200" y="5212080"/>
            <a:ext cx="11247120" cy="868680"/>
          </a:xfrm>
          <a:prstGeom prst="roundRect">
            <a:avLst>
              <a:gd name="adj" fmla="val 8421"/>
            </a:avLst>
          </a:prstGeom>
          <a:solidFill>
            <a:srgbClr val="E8F1F5"/>
          </a:solidFill>
          <a:ln w="12700">
            <a:solidFill>
              <a:srgbClr val="D9E6E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1520" y="5212080"/>
            <a:ext cx="23774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 handling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3200400" y="5212080"/>
            <a:ext cx="8229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parse_json_response() falls back to a fixed REJECT if JSON parsing fails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Assignment 1  |  Workflow vs Agent — Product Validation Service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Design 2 — Dynamic Agent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E8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/validate-product-agent — Claude decides which tools this specific listing needs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4937760" y="1508760"/>
            <a:ext cx="2286000" cy="914400"/>
          </a:xfrm>
          <a:prstGeom prst="roundRect">
            <a:avLst>
              <a:gd name="adj" fmla="val 12000"/>
            </a:avLst>
          </a:prstGeom>
          <a:solidFill>
            <a:srgbClr val="F2A541"/>
          </a:solidFill>
          <a:ln/>
        </p:spPr>
      </p:sp>
      <p:sp>
        <p:nvSpPr>
          <p:cNvPr id="5" name="Text 3"/>
          <p:cNvSpPr/>
          <p:nvPr/>
        </p:nvSpPr>
        <p:spPr>
          <a:xfrm>
            <a:off x="4937760" y="1508760"/>
            <a:ext cx="2286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run_agent()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receives listing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images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1522476" y="3246120"/>
            <a:ext cx="2743200" cy="1188720"/>
          </a:xfrm>
          <a:prstGeom prst="roundRect">
            <a:avLst>
              <a:gd name="adj" fmla="val 7692"/>
            </a:avLst>
          </a:prstGeom>
          <a:solidFill>
            <a:srgbClr val="1C7293"/>
          </a:solidFill>
          <a:ln/>
        </p:spPr>
      </p:sp>
      <p:sp>
        <p:nvSpPr>
          <p:cNvPr id="7" name="Text 5"/>
          <p:cNvSpPr/>
          <p:nvPr/>
        </p:nvSpPr>
        <p:spPr>
          <a:xfrm>
            <a:off x="1613916" y="3355848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check_duplicate_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product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613916" y="3867912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E8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Similar item already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E8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catalog?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 flipH="1">
            <a:off x="2894076" y="2423160"/>
            <a:ext cx="3186684" cy="822960"/>
          </a:xfrm>
          <a:prstGeom prst="line">
            <a:avLst/>
          </a:prstGeom>
          <a:noFill/>
          <a:ln w="19050">
            <a:solidFill>
              <a:srgbClr val="F2A541"/>
            </a:solidFill>
            <a:prstDash val="dash"/>
          </a:ln>
        </p:spPr>
      </p:sp>
      <p:sp>
        <p:nvSpPr>
          <p:cNvPr id="10" name="Shape 8"/>
          <p:cNvSpPr/>
          <p:nvPr/>
        </p:nvSpPr>
        <p:spPr>
          <a:xfrm>
            <a:off x="4722876" y="3246120"/>
            <a:ext cx="2743200" cy="1188720"/>
          </a:xfrm>
          <a:prstGeom prst="roundRect">
            <a:avLst>
              <a:gd name="adj" fmla="val 7692"/>
            </a:avLst>
          </a:prstGeom>
          <a:solidFill>
            <a:srgbClr val="1C7293"/>
          </a:solidFill>
          <a:ln/>
        </p:spPr>
      </p:sp>
      <p:sp>
        <p:nvSpPr>
          <p:cNvPr id="11" name="Text 9"/>
          <p:cNvSpPr/>
          <p:nvPr/>
        </p:nvSpPr>
        <p:spPr>
          <a:xfrm>
            <a:off x="4814316" y="3355848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check_price_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anomaly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814316" y="3867912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E8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vs. category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E8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average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080760" y="2423160"/>
            <a:ext cx="13716" cy="822960"/>
          </a:xfrm>
          <a:prstGeom prst="line">
            <a:avLst/>
          </a:prstGeom>
          <a:noFill/>
          <a:ln w="19050">
            <a:solidFill>
              <a:srgbClr val="F2A541"/>
            </a:solidFill>
            <a:prstDash val="dash"/>
          </a:ln>
        </p:spPr>
      </p:sp>
      <p:sp>
        <p:nvSpPr>
          <p:cNvPr id="14" name="Shape 12"/>
          <p:cNvSpPr/>
          <p:nvPr/>
        </p:nvSpPr>
        <p:spPr>
          <a:xfrm>
            <a:off x="7923276" y="3246120"/>
            <a:ext cx="2743200" cy="1188720"/>
          </a:xfrm>
          <a:prstGeom prst="roundRect">
            <a:avLst>
              <a:gd name="adj" fmla="val 7692"/>
            </a:avLst>
          </a:prstGeom>
          <a:solidFill>
            <a:srgbClr val="1C7293"/>
          </a:solidFill>
          <a:ln/>
        </p:spPr>
      </p:sp>
      <p:sp>
        <p:nvSpPr>
          <p:cNvPr id="15" name="Text 13"/>
          <p:cNvSpPr/>
          <p:nvPr/>
        </p:nvSpPr>
        <p:spPr>
          <a:xfrm>
            <a:off x="8014716" y="3355848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get_vendor_trust_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profile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014716" y="3867912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E8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Vendor's rejection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E8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/ strikes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080760" y="2423160"/>
            <a:ext cx="3214116" cy="822960"/>
          </a:xfrm>
          <a:prstGeom prst="line">
            <a:avLst/>
          </a:prstGeom>
          <a:noFill/>
          <a:ln w="19050">
            <a:solidFill>
              <a:srgbClr val="F2A541"/>
            </a:solidFill>
            <a:prstDash val="dash"/>
          </a:ln>
        </p:spPr>
      </p:sp>
      <p:sp>
        <p:nvSpPr>
          <p:cNvPr id="18" name="Shape 16"/>
          <p:cNvSpPr/>
          <p:nvPr/>
        </p:nvSpPr>
        <p:spPr>
          <a:xfrm>
            <a:off x="457200" y="4709160"/>
            <a:ext cx="11247120" cy="1600200"/>
          </a:xfrm>
          <a:prstGeom prst="roundRect">
            <a:avLst>
              <a:gd name="adj" fmla="val 4571"/>
            </a:avLst>
          </a:prstGeom>
          <a:solidFill>
            <a:srgbClr val="10233A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" y="4846320"/>
            <a:ext cx="1088136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F2C5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data.get("stop_reason") == "tool_use":</a:t>
            </a:r>
            <a:endParaRPr lang="en-US" sz="11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block in data["content"]:          # Claude decided which of these to call</a:t>
            </a:r>
            <a:endParaRPr lang="en-US" sz="11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8FD3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result = TOOL_FUNCTIONS[block["name"]](block["input"])</a:t>
            </a:r>
            <a:endParaRPr lang="en-US" sz="11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messages.append(tool_result)          # feed result back, loop again</a:t>
            </a:r>
            <a:endParaRPr lang="en-US" sz="11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82C4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...continues until Claude answers with plain JSON instead of a tool call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Assignment 1  |  Workflow vs Agent — Product Validation Service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the Agent Behaves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11247120" cy="777240"/>
          </a:xfrm>
          <a:prstGeom prst="roundRect">
            <a:avLst>
              <a:gd name="adj" fmla="val 9412"/>
            </a:avLst>
          </a:prstGeom>
          <a:solidFill>
            <a:srgbClr val="E8F1F5"/>
          </a:solidFill>
          <a:ln w="12700">
            <a:solidFill>
              <a:srgbClr val="D9E6E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280160"/>
            <a:ext cx="2194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3017520" y="1280160"/>
            <a:ext cx="8412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reasons via the AGENT_SYSTEM_PROMPT and picks 0–3 tools per listing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457200" y="2130552"/>
            <a:ext cx="1124712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D9E6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2130552"/>
            <a:ext cx="2194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use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3017520" y="2130552"/>
            <a:ext cx="8412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check_duplicate_product / check_price_anomaly / get_vendor_trust_profile — called only if the listing warrants it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57200" y="2980944"/>
            <a:ext cx="11247120" cy="777240"/>
          </a:xfrm>
          <a:prstGeom prst="roundRect">
            <a:avLst>
              <a:gd name="adj" fmla="val 9412"/>
            </a:avLst>
          </a:prstGeom>
          <a:solidFill>
            <a:srgbClr val="E8F1F5"/>
          </a:solidFill>
          <a:ln w="12700">
            <a:solidFill>
              <a:srgbClr val="D9E6E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2980944"/>
            <a:ext cx="2194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Claude's role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3017520" y="2980944"/>
            <a:ext cx="8412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Orchestrator: interprets tool results, can call more tools, then decides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57200" y="3831336"/>
            <a:ext cx="1124712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D9E6E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" y="3831336"/>
            <a:ext cx="2194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Predictability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3017520" y="3831336"/>
            <a:ext cx="8412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 varies — a clean listing may call zero tools; an ambiguous one may call all three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457200" y="4681728"/>
            <a:ext cx="11247120" cy="777240"/>
          </a:xfrm>
          <a:prstGeom prst="roundRect">
            <a:avLst>
              <a:gd name="adj" fmla="val 9412"/>
            </a:avLst>
          </a:prstGeom>
          <a:solidFill>
            <a:srgbClr val="E8F1F5"/>
          </a:solidFill>
          <a:ln w="12700">
            <a:solidFill>
              <a:srgbClr val="D9E6E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1520" y="4681728"/>
            <a:ext cx="2194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 handling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3017520" y="4681728"/>
            <a:ext cx="8412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extract_json_object() salvages JSON even if wrapped in stray text; ESCALATE on true failure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457200" y="5532120"/>
            <a:ext cx="1124712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D9E6E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31520" y="5532120"/>
            <a:ext cx="2194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 outcome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3017520" y="5532120"/>
            <a:ext cx="8412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return ESCALATE, not just ACCEPT/REJECT — routes borderline cases to a human Admin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Assignment 1  |  Workflow vs Agent — Product Validation Service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 Test: Same Listing, Both Endpoints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57200" y="896112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Submitted via the Streamlit demo UI — a wireless earbuds listing with a suspicious product photo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5394960" cy="4572000"/>
          </a:xfrm>
          <a:prstGeom prst="roundRect">
            <a:avLst>
              <a:gd name="adj" fmla="val 2400"/>
            </a:avLst>
          </a:prstGeom>
          <a:solidFill>
            <a:srgbClr val="065A82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645920"/>
            <a:ext cx="4754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🧱 Fixed Workflow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77240" y="201168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8F1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/validate-product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777240" y="246888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Recommendation: REJECT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77240" y="283464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Confidence: 42%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77240" y="3246120"/>
            <a:ext cx="475488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competing earbud models shown together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ruler in-frame suggests a review/comparison photo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Can't confirm noise-cancelling / battery / touch controls visually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tools available — judged on the image + prompt alone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309360" y="1463040"/>
            <a:ext cx="5394960" cy="4572000"/>
          </a:xfrm>
          <a:prstGeom prst="roundRect">
            <a:avLst>
              <a:gd name="adj" fmla="val 2400"/>
            </a:avLst>
          </a:prstGeom>
          <a:solidFill>
            <a:srgbClr val="F2A541"/>
          </a:solidFill>
          <a:ln/>
        </p:spPr>
      </p:sp>
      <p:sp>
        <p:nvSpPr>
          <p:cNvPr id="11" name="Text 9"/>
          <p:cNvSpPr/>
          <p:nvPr/>
        </p:nvSpPr>
        <p:spPr>
          <a:xfrm>
            <a:off x="6629400" y="1645920"/>
            <a:ext cx="4754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Dynamic Agent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629400" y="201168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129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/validate-product-agent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6629400" y="246888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Recommendation: ESCALATE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629400" y="283464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Chose to gather more evidence before deciding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6629400" y="3246120"/>
            <a:ext cx="475488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Called check_price_anomaly — verified pricing separately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Called check_duplicate_product — checked catalog overlap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Called get_vendor_trust_profile — pulled vendor track record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all 3 tools before routing to a human Admin instead of guessing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Assignment 1  |  Workflow vs Agent — Product Validation Service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Workflow vs. Agent — Side by Side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3840480" cy="548640"/>
          </a:xfrm>
          <a:prstGeom prst="roundRect">
            <a:avLst>
              <a:gd name="adj" fmla="val 10000"/>
            </a:avLst>
          </a:prstGeom>
          <a:solidFill>
            <a:srgbClr val="0B2545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188720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Dimension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480560" y="1188720"/>
            <a:ext cx="3566160" cy="548640"/>
          </a:xfrm>
          <a:prstGeom prst="roundRect">
            <a:avLst>
              <a:gd name="adj" fmla="val 10000"/>
            </a:avLst>
          </a:prstGeom>
          <a:solidFill>
            <a:srgbClr val="065A82"/>
          </a:solidFill>
          <a:ln/>
        </p:spPr>
      </p:sp>
      <p:sp>
        <p:nvSpPr>
          <p:cNvPr id="6" name="Text 4"/>
          <p:cNvSpPr/>
          <p:nvPr/>
        </p:nvSpPr>
        <p:spPr>
          <a:xfrm>
            <a:off x="4480560" y="1188720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229600" y="1188720"/>
            <a:ext cx="3566160" cy="548640"/>
          </a:xfrm>
          <a:prstGeom prst="roundRect">
            <a:avLst>
              <a:gd name="adj" fmla="val 10000"/>
            </a:avLst>
          </a:prstGeom>
          <a:solidFill>
            <a:srgbClr val="F2A541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0" y="1188720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57200" y="1783080"/>
            <a:ext cx="10972800" cy="685800"/>
          </a:xfrm>
          <a:prstGeom prst="rect">
            <a:avLst/>
          </a:prstGeom>
          <a:solidFill>
            <a:srgbClr val="E8F1F5"/>
          </a:solidFill>
          <a:ln w="9525">
            <a:solidFill>
              <a:srgbClr val="E3EC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1783080"/>
            <a:ext cx="3566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 calls / request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617720" y="1783080"/>
            <a:ext cx="3291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Exactly 1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8366760" y="1783080"/>
            <a:ext cx="3291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to 5 (loop until done)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457200" y="2514600"/>
            <a:ext cx="10972800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E3EC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4360" y="2514600"/>
            <a:ext cx="3566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selection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617720" y="2514600"/>
            <a:ext cx="3291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 available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8366760" y="2514600"/>
            <a:ext cx="3291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Chosen dynamically per listing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457200" y="3246120"/>
            <a:ext cx="10972800" cy="685800"/>
          </a:xfrm>
          <a:prstGeom prst="rect">
            <a:avLst/>
          </a:prstGeom>
          <a:solidFill>
            <a:srgbClr val="E8F1F5"/>
          </a:solidFill>
          <a:ln w="9525">
            <a:solidFill>
              <a:srgbClr val="E3EC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4360" y="3246120"/>
            <a:ext cx="3566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per run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617720" y="3246120"/>
            <a:ext cx="3291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&amp; fixed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8366760" y="3246120"/>
            <a:ext cx="3291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 — scales with ambiguity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457200" y="3977640"/>
            <a:ext cx="10972800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E3EC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4360" y="3977640"/>
            <a:ext cx="3566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Debuggability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617720" y="3977640"/>
            <a:ext cx="3291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prompt to trace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8366760" y="3977640"/>
            <a:ext cx="3291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Multi-turn trace across tool calls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457200" y="4709160"/>
            <a:ext cx="10972800" cy="685800"/>
          </a:xfrm>
          <a:prstGeom prst="rect">
            <a:avLst/>
          </a:prstGeom>
          <a:solidFill>
            <a:srgbClr val="E8F1F5"/>
          </a:solidFill>
          <a:ln w="9525">
            <a:solidFill>
              <a:srgbClr val="E3EC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94360" y="4709160"/>
            <a:ext cx="3566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Possible outcomes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617720" y="4709160"/>
            <a:ext cx="3291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 / REJECT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8366760" y="4709160"/>
            <a:ext cx="3291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 / REJECT / ESCALATE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457200" y="5440680"/>
            <a:ext cx="10972800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E3EC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94360" y="5440680"/>
            <a:ext cx="3566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4617720" y="5440680"/>
            <a:ext cx="3291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Clear-cut visual QA at scale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8366760" y="5440680"/>
            <a:ext cx="3291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Ambiguous or high-stakes listings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Assignment 1  |  Workflow vs Agent — Product Validation Service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When to Use Which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234440"/>
            <a:ext cx="5394960" cy="4937760"/>
          </a:xfrm>
          <a:prstGeom prst="roundRect">
            <a:avLst>
              <a:gd name="adj" fmla="val 2222"/>
            </a:avLst>
          </a:prstGeom>
          <a:solidFill>
            <a:srgbClr val="065A82"/>
          </a:solidFill>
          <a:ln/>
        </p:spPr>
      </p:sp>
      <p:sp>
        <p:nvSpPr>
          <p:cNvPr id="4" name="Text 2"/>
          <p:cNvSpPr/>
          <p:nvPr/>
        </p:nvSpPr>
        <p:spPr>
          <a:xfrm>
            <a:off x="777240" y="146304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the Workflow when...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77240" y="2057400"/>
            <a:ext cx="475488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E8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submission volume where cost and latency must stay predictable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E8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check is genuinely simple: do images match the text, yes or no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E8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Auditability matters — one prompt, one call, one traceable path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E8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bulk vendor onboarding, straightforward single-product listings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309360" y="1234440"/>
            <a:ext cx="5394960" cy="4937760"/>
          </a:xfrm>
          <a:prstGeom prst="roundRect">
            <a:avLst>
              <a:gd name="adj" fmla="val 2222"/>
            </a:avLst>
          </a:prstGeom>
          <a:solidFill>
            <a:srgbClr val="F2A541"/>
          </a:solidFill>
          <a:ln/>
        </p:spPr>
      </p:sp>
      <p:sp>
        <p:nvSpPr>
          <p:cNvPr id="7" name="Text 5"/>
          <p:cNvSpPr/>
          <p:nvPr/>
        </p:nvSpPr>
        <p:spPr>
          <a:xfrm>
            <a:off x="6629400" y="146304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the Agent when...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629400" y="2057400"/>
            <a:ext cx="475488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listing is ambiguous and extra evidence (price, duplicates, vendor history) could change the verdict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wrong ACCEPT or REJECT is costly enough to justify escalating instead of guessing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edge cases keep appearing that a fixed prompt can't anticipate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our earbuds test — model asked for pricing, duplicate, and vendor data before deciding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Assignment 1  |  Workflow vs Agent — Product Validation Service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4572000"/>
            <a:ext cx="4114800" cy="4114800"/>
          </a:xfrm>
          <a:prstGeom prst="ellipse">
            <a:avLst/>
          </a:prstGeom>
          <a:solidFill>
            <a:srgbClr val="065A82">
              <a:alpha val="4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64008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31520" y="1463040"/>
            <a:ext cx="77724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300"/>
              </a:lnSpc>
              <a:buNone/>
            </a:pPr>
            <a:r>
              <a:rPr lang="en-US" sz="1550" dirty="0">
                <a:solidFill>
                  <a:srgbClr val="E8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endpoints run in the same service against the same request models — the only difference is whether Claude gets tools and room to reason, or a single fixed prompt. Our own test showed it: the workflow rejected outright on visual grounds alone, while the agent chose to verify price, duplicates, and vendor trust before escalating to a human — exactly the judgment call a rigid pipeline can't make.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731520" y="3749040"/>
            <a:ext cx="7772400" cy="1737360"/>
          </a:xfrm>
          <a:prstGeom prst="roundRect">
            <a:avLst>
              <a:gd name="adj" fmla="val 6316"/>
            </a:avLst>
          </a:prstGeom>
          <a:solidFill>
            <a:srgbClr val="1C7293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39319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Repository</a:t>
            </a:r>
            <a:endParaRPr lang="en-US" sz="1500" dirty="0"/>
          </a:p>
        </p:txBody>
      </p:sp>
      <p:sp>
        <p:nvSpPr>
          <p:cNvPr id="7" name="Text 5">
            <a:hlinkClick r:id="rId1" tooltip=""/>
          </p:cNvPr>
          <p:cNvSpPr/>
          <p:nvPr/>
        </p:nvSpPr>
        <p:spPr>
          <a:xfrm>
            <a:off x="1005840" y="43434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u="sng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github.com/SivaKavindraTamilselvan/CapstoneProject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05840" y="48006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E8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(Ensure repository visibility is set to Public before submitting)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Assignment 1  |  Workflow vs Agent — Product Validation Service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2026-07-27T07:29:38Z</dcterms:created>
  <dcterms:modified xsi:type="dcterms:W3CDTF">2026-07-27T07:29:38Z</dcterms:modified>
</cp:coreProperties>
</file>